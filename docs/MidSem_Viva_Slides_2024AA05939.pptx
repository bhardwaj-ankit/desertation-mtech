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CFE2FF"/>
                </a:solidFill>
              </a:defRPr>
            </a:pPr>
            <a:r>
              <a:t>BIRLA INSTITUTE OF TECHNOLOGY &amp; SCIENCE, PILANI</a:t>
            </a:r>
          </a:p>
          <a:p>
            <a:pPr>
              <a:defRPr sz="1200">
                <a:solidFill>
                  <a:srgbClr val="CFE2FF"/>
                </a:solidFill>
              </a:defRPr>
            </a:pPr>
            <a:r>
              <a:t>M.Tech (Artificial Intelligence &amp; Machine Learning)  •  AIMLCZG628T Dissertation / Project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74519"/>
            <a:ext cx="128016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An Agentic Multimodal AI Framework for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Aircraft Techlog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C107"/>
                </a:solidFill>
              </a:defRPr>
            </a:pPr>
            <a:r>
              <a:t>Mid-Semester Progress Viva  •  The “Techlog Copilot”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</a:defRPr>
            </a:pPr>
            <a:r>
              <a:t>Presented by:  Ankit Bhardwaj   (ID: 2024AA05939)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Dissertation carried out at:  The Emirates Group, Dubai, UAE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Under the Supervision of:  Alla Venkatesh Rao</a:t>
            </a:r>
          </a:p>
          <a:p>
            <a:pPr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Birla Institute of Technology &amp; Science, Pilani (Rajasthan)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What this viva covers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Introduction &amp; problem context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Aim, objectives and scope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Literature review — foundations &amp; research gap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Research methodology — agentic multimodal architecture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Data collection &amp; preparation — work completed this phase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Dataset description &amp; statistics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Evaluation plan &amp; success metrics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Project plan, status and next steps</a:t>
            </a:r>
          </a:p>
          <a:p>
            <a:pPr>
              <a:spcAft>
                <a:spcPts val="500"/>
              </a:spcAft>
              <a:defRPr sz="1900" b="1">
                <a:solidFill>
                  <a:srgbClr val="222222"/>
                </a:solidFill>
              </a:defRPr>
            </a:pPr>
            <a:r>
              <a:t>• Q &amp;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Introduction &amp; Problem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Why aircraft techlog intelligence?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The aircraft Technical Logbook is one of the most operationally critical documents in commercial aviation — every reported defect, maintenance action and deferred (MEL) item is recorded there.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At a large hub carrier (several hundred aircraft), techlog entries run into the thousands per week.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Engineers must triage defects within a 3–5 minute line-maintenance window by cross-referencing: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Maintenance manuals (AMM), MEL/CDL provisions, Engineering Orders, and prior resolved cases.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These sit in systems that do not talk to each other — largely free text.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Today's tools are mostly keyword retrieval: no integration across sources, and no predictive layer for recurring faults.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Cost of a missed or delayed resolution is high — in Aircraft-on-Ground (AOG) time and in safety exposure.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Research opportunity: combine Retrieval-Augmented Generation, multimodal deep learning and agentic AI to fit the operational constraints of an airline MRO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Aim, Objectives &amp;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The “Techlog Copilot”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Aim: an Agentic Multimodal AI framework that assists maintenance engineers with evidence-backed, safety-aware decision support.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Objectives: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Triage defects across 8 ATA-aligned fault categories with confidence scores.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Retrieve cited evidence from a curated knowledge corpus (RAG).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Predict recurring defects on a per-tail (per-aircraft) basis within a 30-day horizon.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Generate explainable recommendations under safety-governance constraints (EASA L1/L2).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Scope: academic research prototype — not a production deployment.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No proprietary airline data is used; all real data is from public sources, synthetic data is clearly separated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Literature Review —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Peer-reviewed backing for each design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2743200" cy="60350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508760"/>
            <a:ext cx="3017520" cy="60350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Reference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943600" cy="60350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Insight informing this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12264"/>
            <a:ext cx="27432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Retrieval-Augmented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12264"/>
            <a:ext cx="301752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Lewis et al., NeurIPS 2020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12264"/>
            <a:ext cx="59436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Ground answers in retrieved documents → sharply reduces hallucination; every answer is citable.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2743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Transformer / LLM backbone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715768"/>
            <a:ext cx="3017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Vaswani et al., 2017; BERT, 2019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15768"/>
            <a:ext cx="5943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Contextual encoders for noisy free-text defect narratives.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27432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Parameter-efficient fine-tuning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319272"/>
            <a:ext cx="301752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LoRA (Hu'22); QLoRA (Dettmers'23)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319272"/>
            <a:ext cx="59436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Specialise a 7B model by training ~0.1% of weights — feasible without large GPU clusters.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2743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Tool-using / agentic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922776"/>
            <a:ext cx="3017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Toolformer (Schick et al., 2023)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22776"/>
            <a:ext cx="5943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Specialised agents outperform a single monolithic LLM and are more explainable.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27432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Multimodal learning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526280"/>
            <a:ext cx="301752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He et al., 2022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26280"/>
            <a:ext cx="59436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Fusing text + metadata + signals improves classification robustness.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9784"/>
            <a:ext cx="27432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Sequence modelling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5129784"/>
            <a:ext cx="301752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C-MAPSS / PHM (Saxena'08)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129784"/>
            <a:ext cx="5943600" cy="60350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Run-to-failure sensor sequences support recurrence &amp; degradation modelling.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33288"/>
            <a:ext cx="27432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00" b="0">
                <a:solidFill>
                  <a:srgbClr val="222222"/>
                </a:solidFill>
              </a:defRPr>
            </a:pPr>
            <a:r>
              <a:t>Aviation AI governance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733288"/>
            <a:ext cx="301752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EASA L1/L2 ML Concept Paper '23; NIST AI RMF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733288"/>
            <a:ext cx="5943600" cy="60350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00" b="0">
                <a:solidFill>
                  <a:srgbClr val="222222"/>
                </a:solidFill>
              </a:defRPr>
            </a:pPr>
            <a:r>
              <a:t>Explainability, traceability, abstention and human-in-the-loop are mandatory.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Literature Review — Research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Where this dissertation contributes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Existing maintenance-support tools are largely retrieval-only: keyword search over PDF manuals, MEL lookup by ATA chapter, recurring faults left to institutional memory.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Individual building blocks are mature in isolation — but no published system combines them for the techlog setting: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RAG grounding  +  multimodal fusion (text + metadata + signals)  +  agent orchestration  +  an explicit safety / abstention layer.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Aviation imposes constraints most general RAG/agent papers do not address: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Evidence citation for every recommendation; auditable decision trails; mandatory abstention on safety-critical questions; sub-5-minute turnaround.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Contribution: an integrated, safety-aware agentic framework that fits airline MRO operating constraints, evaluated on real + synthetic aviation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Research Methodology —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Multi-agent pipeline orchestrated with 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11247120" cy="457200"/>
          </a:xfrm>
          <a:prstGeom prst="roundRect">
            <a:avLst/>
          </a:prstGeom>
          <a:solidFill>
            <a:srgbClr val="214F8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Engineer Query (natural language)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93392"/>
            <a:ext cx="11247120" cy="457200"/>
          </a:xfrm>
          <a:prstGeom prst="roundRect">
            <a:avLst/>
          </a:prstGeom>
          <a:solidFill>
            <a:srgbClr val="0B2E5C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Orchestrator  (LangGraph: planning, routing, tool-use)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2697480" cy="105156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Triage Agent</a:t>
            </a:r>
            <a:br/>
            <a:r>
              <a:rPr sz="1100" b="1">
                <a:solidFill>
                  <a:srgbClr val="FFFFFF"/>
                </a:solidFill>
              </a:rPr>
              <a:t>PyTorch MLP</a:t>
            </a:r>
            <a:br/>
            <a:r>
              <a:rPr sz="1100" b="1">
                <a:solidFill>
                  <a:srgbClr val="FFFFFF"/>
                </a:solidFill>
              </a:rPr>
              <a:t>8-class label +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606040"/>
            <a:ext cx="2697480" cy="105156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Recurrence Agent</a:t>
            </a:r>
            <a:br/>
            <a:r>
              <a:rPr sz="1100" b="1">
                <a:solidFill>
                  <a:srgbClr val="FFFFFF"/>
                </a:solidFill>
              </a:rPr>
              <a:t>PyTorch LSTM</a:t>
            </a:r>
            <a:br/>
            <a:r>
              <a:rPr sz="1100" b="1">
                <a:solidFill>
                  <a:srgbClr val="FFFFFF"/>
                </a:solidFill>
              </a:rPr>
              <a:t>repeat-risk ≤ 30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606040"/>
            <a:ext cx="2697480" cy="105156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Retrieval Agent</a:t>
            </a:r>
            <a:br/>
            <a:r>
              <a:rPr sz="1100" b="1">
                <a:solidFill>
                  <a:srgbClr val="FFFFFF"/>
                </a:solidFill>
              </a:rPr>
              <a:t>LangChain + Chroma</a:t>
            </a:r>
            <a:br/>
            <a:r>
              <a:rPr sz="1100" b="1">
                <a:solidFill>
                  <a:srgbClr val="FFFFFF"/>
                </a:solidFill>
              </a:rPr>
              <a:t>top-k cited documents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606040"/>
            <a:ext cx="2697480" cy="1051560"/>
          </a:xfrm>
          <a:prstGeom prst="roundRect">
            <a:avLst/>
          </a:prstGeom>
          <a:solidFill>
            <a:srgbClr val="4A90BE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Reasoning Agent</a:t>
            </a:r>
            <a:br/>
            <a:r>
              <a:rPr sz="1100" b="1">
                <a:solidFill>
                  <a:srgbClr val="FFFFFF"/>
                </a:solidFill>
              </a:rPr>
              <a:t>Mistral-7B + LoRA</a:t>
            </a:r>
            <a:br/>
            <a:r>
              <a:rPr sz="1100" b="1">
                <a:solidFill>
                  <a:srgbClr val="FFFFFF"/>
                </a:solidFill>
              </a:rPr>
              <a:t>ranked cited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86200"/>
            <a:ext cx="11247120" cy="566928"/>
          </a:xfrm>
          <a:prstGeom prst="roundRect">
            <a:avLst/>
          </a:prstGeom>
          <a:solidFill>
            <a:srgbClr val="C0392B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Safety Layer:  confidence gate  •  abstention (MUST_ABSTAIN)  •  human escalation  •  audit 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502920"/>
          </a:xfrm>
          <a:prstGeom prst="roundRect">
            <a:avLst/>
          </a:prstGeom>
          <a:solidFill>
            <a:srgbClr val="2E7D32"/>
          </a:solidFill>
          <a:ln>
            <a:solidFill>
              <a:srgbClr val="0B2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Engineer Interface  (Streamlit UI + FastAPI backend) — explainable, cited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i="1">
                <a:solidFill>
                  <a:srgbClr val="555555"/>
                </a:solidFill>
              </a:defRPr>
            </a:pPr>
            <a:r>
              <a:t>Each agent is specialised and explainable; every response passes the safety layer (confidence gating + abstention + audit) before reaching the engineer.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Research Methodology — Component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How each agent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Triage agent — multimodal MLP fusing three streams: defect narrative (sentence-transformer embedding) + structured metadata (ATA chapter, flight phase, aircraft type, severity) + 42 C-MAPSS-style sensor features (last value &amp; slope). Output: 8 fault classes from ATA iSpec 2200 groupings.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Recurrence agent — LSTM over the chronologically ordered prior-defect sequence per tail number; features include category, ATA chapter, severity and days-since-last-event. Binary output: same category recurs within 30 days.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Retrieval agent — RAG pipeline; Chroma vector store + sentence-transformer embeddings over a 1,213-document corpus (real FAA ADs + synthetic AMM/MEL/EO/advisories + de-identified ASRS cases).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Reasoning agent — Mistral-7B with LoRA adapters, fine-tuned on 26,210 real defect→action pairs from FAA SDRs; produces a ranked, cited recommendation.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Safety layer — confidence gate suppresses low-confidence output; 9 MUST_ABSTAIN question types are declined and escalated; every decision (incl. abstentions) is written to an audit log. Aligned to EASA L1/L2 guidance.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Data Collection — Real Public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Four real aviation sources integrated  (zero proprietary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NASA C-MAPSS Turbofan Degradation (FD001–FD004) — multivariate run-to-failure time series (3 operational settings + 21 sensors); 14 train/test/RUL files. Drives the signal modality of the triage classifier.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FAA Service Difficulty Reports (SDR) 2023–2025 — ~197,000 defect reports, 76-column schema. Normalised to 196,118 records; 166,037 mapped to one of 8 classes via ATA lookup + keyword fallback (30,081 fell into OTHER — a documented limitation).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Regex splitter extracted 26,210 defect→corrective-action pairs from the free-text Discrepancy field — the primary supervised signal for the reasoning agent.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NASA ASRS Report Sets — 3 curated PDFs (maintenance, fuel, cabin fumes/smoke); parsed with pypdf, segmented by ACN → 150 structured CASE documents added to the corpus.</a:t>
            </a:r>
          </a:p>
          <a:p>
            <a:pPr>
              <a:spcAft>
                <a:spcPts val="500"/>
              </a:spcAft>
              <a:defRPr sz="1400" b="1">
                <a:solidFill>
                  <a:srgbClr val="222222"/>
                </a:solidFill>
              </a:defRPr>
            </a:pPr>
            <a:r>
              <a:t>• FAA Airworthiness Directives — 500 AD rules via the Federal Register API (49 with full text from govinfo.gov); all 500 included in the RAG corpus.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Data Collection — Synthetic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Schema-consistent labelled data the public domain lacks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222222"/>
                </a:solidFill>
              </a:defRPr>
            </a:pPr>
            <a:r>
              <a:t>• Synthetic techlogs — 4,425 records across 70 tail numbers (A6- style fleet: A320/A321/A330/A350/B737/B777/B787). Each carries category, ATA chapter, component, severity, flight phase, station, plus raw (shorthand) and clean narratives. Per-tail histories are internally consistent with 30-day recurrence flags.</a:t>
            </a:r>
          </a:p>
          <a:p>
            <a:pPr>
              <a:spcAft>
                <a:spcPts val="500"/>
              </a:spcAft>
              <a:defRPr sz="1350" b="1">
                <a:solidFill>
                  <a:srgbClr val="222222"/>
                </a:solidFill>
              </a:defRPr>
            </a:pPr>
            <a:r>
              <a:t>• Knowledge corpus — 563 synthetic documents (42 AMM snippets, 16 MEL entries, 40 ADs, 35 Engineering Orders, 30 advisories, 400 prior cases). Component→ATA pairing validated programmatically (zero mismatches). With 500 real ADs + 150 ASRS cases → 1,213 retrievable documents.</a:t>
            </a:r>
          </a:p>
          <a:p>
            <a:pPr>
              <a:spcAft>
                <a:spcPts val="500"/>
              </a:spcAft>
              <a:defRPr sz="1350" b="1">
                <a:solidFill>
                  <a:srgbClr val="222222"/>
                </a:solidFill>
              </a:defRPr>
            </a:pPr>
            <a:r>
              <a:t>• C-MAPSS-style signal windows — 3,915 windows (3 settings + 21 sensors) with defect-specific degradation signatures injected (e.g. pressure drift for hydraulic, temperature rise for bleed air). Fusion-ready last-value &amp; slope features per sensor.</a:t>
            </a:r>
          </a:p>
          <a:p>
            <a:pPr>
              <a:spcAft>
                <a:spcPts val="500"/>
              </a:spcAft>
              <a:defRPr sz="1350" b="1">
                <a:solidFill>
                  <a:srgbClr val="222222"/>
                </a:solidFill>
              </a:defRPr>
            </a:pPr>
            <a:r>
              <a:t>• QA benchmark — 189 question-answer pairs across all 8 categories: 163 MUST_CITE, 17 CAN_ANSWER, 9 MUST_ABSTAIN. Used to evaluate Recall@k, nDCG, citation correctness, hallucination rate, and abstention precision/recall.</a:t>
            </a:r>
          </a:p>
          <a:p>
            <a:pPr>
              <a:spcAft>
                <a:spcPts val="500"/>
              </a:spcAft>
              <a:defRPr sz="1350" b="1">
                <a:solidFill>
                  <a:srgbClr val="222222"/>
                </a:solidFill>
              </a:defRPr>
            </a:pPr>
            <a:r>
              <a:t>• Pipeline is fully reproducible: deterministic (seed=42), runs end-to-end via  python3 -m src.data.prepare_all.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Dataset Description &amp;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Table 1 — Dataset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81328"/>
            <a:ext cx="4206240" cy="42062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81328"/>
            <a:ext cx="2743200" cy="42062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481328"/>
            <a:ext cx="4114800" cy="420624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901952"/>
            <a:ext cx="420624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NASA C-MAPSS FD001–FD004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901952"/>
            <a:ext cx="27432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901952"/>
            <a:ext cx="41148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14 files (train / test / RUL per sub-dataset)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22576"/>
            <a:ext cx="4206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FAA SDR 2023–2025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322576"/>
            <a:ext cx="2743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322576"/>
            <a:ext cx="4114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~197,000 rows, 76 columns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420624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NASA ASRS (3 report sets)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743200"/>
            <a:ext cx="27432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Real (de-identified)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2743200"/>
            <a:ext cx="41148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3 PDFs → 150 parsed reports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63824"/>
            <a:ext cx="4206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FAA Airworthiness Directives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163824"/>
            <a:ext cx="2743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Real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3163824"/>
            <a:ext cx="4114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500 metadata records (49 full-text)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84448"/>
            <a:ext cx="420624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Synthetic Techlogs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584448"/>
            <a:ext cx="27432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Synthetic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3584448"/>
            <a:ext cx="41148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4,425 records, 70 tail histories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05072"/>
            <a:ext cx="4206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Knowledge Corpus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005072"/>
            <a:ext cx="2743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Mixed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4005072"/>
            <a:ext cx="4114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1,213 documents total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25696"/>
            <a:ext cx="420624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C-MAPSS-style Signal Windows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425696"/>
            <a:ext cx="27432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Synthetic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4425696"/>
            <a:ext cx="41148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3,915 windows / 117,450 cycle-rows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4206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SDR Normalised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4846320"/>
            <a:ext cx="2743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Processed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4846320"/>
            <a:ext cx="4114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196,118 records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266944"/>
            <a:ext cx="420624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Defect→Action Pairs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5266944"/>
            <a:ext cx="27432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Processed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0" y="5266944"/>
            <a:ext cx="4114800" cy="420624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26,210 pairs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687568"/>
            <a:ext cx="420624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150" b="0">
                <a:solidFill>
                  <a:srgbClr val="222222"/>
                </a:solidFill>
              </a:defRPr>
            </a:pPr>
            <a:r>
              <a:t>QA Benchmark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5687568"/>
            <a:ext cx="27432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Processed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5687568"/>
            <a:ext cx="4114800" cy="420624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150" b="0">
                <a:solidFill>
                  <a:srgbClr val="222222"/>
                </a:solidFill>
              </a:defRPr>
            </a:pPr>
            <a:r>
              <a:t>189 items (163 cite / 17 answer / 9 abstain)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Train / Validation / Test Splits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Chronological splitting prevents temporal leakage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Splits are chronological (earliest 80% train / next 10% val / final 10% test) — critical for recurrence, where using future events to predict the past would inflate metrics.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Triage task:  3,540 train  /  442 val  /  443 test.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Training set roughly uniform across the 8 classes (400–480 per class); 3,915 examples carry the signal modality.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Recurrence task:  3,470 train  /  372 val  /  373 test.</a:t>
            </a:r>
          </a:p>
          <a:p>
            <a:pPr>
              <a:spcAft>
                <a:spcPts val="500"/>
              </a:spcAft>
              <a:defRPr sz="1500" b="0">
                <a:solidFill>
                  <a:srgbClr val="555555"/>
                </a:solidFill>
              </a:defRPr>
            </a:pPr>
            <a:r>
              <a:t>    – Positive rate (recurrence within 30 days) ≈ 36% in the training set (1,240 / 3,470).</a:t>
            </a:r>
          </a:p>
          <a:p>
            <a:pPr>
              <a:spcAft>
                <a:spcPts val="500"/>
              </a:spcAft>
              <a:defRPr sz="1550" b="1">
                <a:solidFill>
                  <a:srgbClr val="222222"/>
                </a:solidFill>
              </a:defRPr>
            </a:pPr>
            <a:r>
              <a:t>• 8 triage classes: Electrical Fault, Hydraulic Leak, Fuel System, Structural Damage, Sensor Indication, Pneumatic/Bleed, Landing Gear/Brake, Powerplant.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Progress Snapshot — Work Completed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Mid-semester deliverable: the full data foundation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005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813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Literature review &amp; dissertation outline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38528"/>
            <a:ext cx="1005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385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Reproducible data pipeline — src/data/, 11 modules, seed=42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95728"/>
            <a:ext cx="1005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3957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4 real public datasets downloaded &amp; normalised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2928"/>
            <a:ext cx="1005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529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Synthetic techlogs, corpus, signals &amp; QA benchmark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10128"/>
            <a:ext cx="1005840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101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Train / val / test splits for triage &amp; recurrence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67328"/>
            <a:ext cx="1005840" cy="384048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673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RAG pipeline &amp; vector store — current focus (Phase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24528"/>
            <a:ext cx="1005840" cy="38404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2245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Triage (MLP) &amp; recurrence (LSTM) model 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81728"/>
            <a:ext cx="1005840" cy="38404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817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LoRA fine-tuning + agent integration + safety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38928"/>
            <a:ext cx="1005840" cy="384048"/>
          </a:xfrm>
          <a:prstGeom prst="round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5138928"/>
            <a:ext cx="9875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500">
                <a:solidFill>
                  <a:srgbClr val="222222"/>
                </a:solidFill>
              </a:defRPr>
            </a:pPr>
            <a:r>
              <a:t>FastAPI + Streamlit UI &amp; full system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i="1" b="1">
                <a:solidFill>
                  <a:srgbClr val="0B2E5C"/>
                </a:solidFill>
              </a:defRPr>
            </a:pPr>
            <a:r>
              <a:t>Mid-semester deliverable = the complete, reproducible data foundation (Phases 1–2). Modelling &amp; agent code begins next.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Evaluation Plan &amp; Success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How the system will be judged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Retrieval quality:  Recall@k and nDCG on the 189-item QA benchmark.</a:t>
            </a:r>
          </a:p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Defect prediction:  AUROC, AUPRC, F1 on triage &amp; recurrence; calibration plots.</a:t>
            </a:r>
          </a:p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Hallucination / grounding:  citation-correctness &amp; factuality of RAG vs a parametric-only LLM baseline.</a:t>
            </a:r>
          </a:p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Safety / governance:  abstention precision-recall on MUST_ABSTAIN items; audit-log completeness; escalation correctness.</a:t>
            </a:r>
          </a:p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System performance:  end-to-end p95 latency; agent step counts.</a:t>
            </a:r>
          </a:p>
          <a:p>
            <a:pPr>
              <a:spcAft>
                <a:spcPts val="500"/>
              </a:spcAft>
              <a:defRPr sz="1650" b="1">
                <a:solidFill>
                  <a:srgbClr val="222222"/>
                </a:solidFill>
              </a:defRPr>
            </a:pPr>
            <a:r>
              <a:t>• Ablations:  multimodal vs text-only  |  with-RAG vs no-RAG  |  with-safety-layer vs without.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Project Plan &amp;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Table 2 — from outline to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486400" cy="502920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08760"/>
            <a:ext cx="3291840" cy="502920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0" y="1508760"/>
            <a:ext cx="2286000" cy="502920"/>
          </a:xfrm>
          <a:prstGeom prst="rect">
            <a:avLst/>
          </a:prstGeom>
          <a:solidFill>
            <a:srgbClr val="0B2E5C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Status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54864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1. Dissertation Outline (lit. review + outline)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329184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05–10 May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011680"/>
            <a:ext cx="22860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COMPLETED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14600"/>
            <a:ext cx="5486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2. Data Acquisition &amp; Preparation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5146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10 May – 15 Jun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251460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COMPLETED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54864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3. RAG Pipeline &amp; Vector Store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017520"/>
            <a:ext cx="329184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16 Jun – 05 Jul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3017520"/>
            <a:ext cx="22860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IN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5486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4. Triage &amp; Recurrence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52044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06–20 Jul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352044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PENDING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54864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5. LLM Fine-tuning &amp; Agent Integration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023360"/>
            <a:ext cx="329184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21 Jul – 06 Aug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4023360"/>
            <a:ext cx="22860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PENDING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26280"/>
            <a:ext cx="5486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6. API, UI &amp; 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52628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07–13 Aug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4526280"/>
            <a:ext cx="2286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54864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ctr">
              <a:defRPr sz="1200" b="0">
                <a:solidFill>
                  <a:srgbClr val="222222"/>
                </a:solidFill>
              </a:defRPr>
            </a:pPr>
            <a:r>
              <a:t>7. Dissertation Review &amp; Submission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5029200"/>
            <a:ext cx="329184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14–19 Aug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5029200"/>
            <a:ext cx="2286000" cy="502920"/>
          </a:xfrm>
          <a:prstGeom prst="rect">
            <a:avLst/>
          </a:prstGeom>
          <a:solidFill>
            <a:srgbClr val="F2F5FA"/>
          </a:solidFill>
          <a:ln>
            <a:solidFill>
              <a:srgbClr val="C9D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54864" tIns="18288" bIns="18288" wrap="square"/>
          <a:lstStyle/>
          <a:p>
            <a:pPr algn="l">
              <a:defRPr sz="1200" b="0">
                <a:solidFill>
                  <a:srgbClr val="222222"/>
                </a:solidFill>
              </a:defRPr>
            </a:pPr>
            <a: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 b="1">
                <a:solidFill>
                  <a:srgbClr val="0B2E5C"/>
                </a:solidFill>
              </a:defRPr>
            </a:pPr>
            <a:r>
              <a:t>We are here: data foundation complete (Phases 1–2); RAG pipeline now under way (Phase 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Risks &amp; Known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Identified early, with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No real airline techlog data → synthetic + public datasets used; realism limitations documented; synthetic clearly separated.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30,081 SDR records fell into OTHER (heuristic ATA mapping) → preserved &amp; flagged; future ML classifier can recover them.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LLM hallucination → mandatory RAG grounding, citation enforcement, and abstention thresholds.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Compute limits for 7B fine-tuning → LoRA / QLoRA on open-source base models.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Multimodal fusion complexity → start text+metadata baseline, add signals iteratively.</a:t>
            </a:r>
          </a:p>
          <a:p>
            <a:pPr>
              <a:spcAft>
                <a:spcPts val="500"/>
              </a:spcAft>
              <a:defRPr sz="1600" b="1">
                <a:solidFill>
                  <a:srgbClr val="222222"/>
                </a:solidFill>
              </a:defRPr>
            </a:pPr>
            <a:r>
              <a:t>• Recommendation-quality evaluation is subjective → SME-graded rubric defined upfront.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601968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55555"/>
                </a:solidFill>
              </a:defRPr>
            </a:pPr>
            <a:r>
              <a:t>Mid-Semester Viva  |  Agentic Multimodal AI for Aircraft Techlog Intelligence  |  Ankit Bhardwaj  |  2024AA05939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2E5C"/>
                </a:solidFill>
              </a:defRPr>
            </a:pPr>
            <a:r>
              <a:t>Selected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70432"/>
            <a:ext cx="1828800" cy="411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1F77B4"/>
                </a:solidFill>
              </a:defRPr>
            </a:pPr>
            <a:r>
              <a:t>Core papers &amp; standards underpinning the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[1]  Lewis, P. et al. “Retrieval-Augmented Generation for Knowledge-Intensive NLP Tasks.” NeurIPS, 2020.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[2]  Vaswani, A. et al. “Attention Is All You Need.” NeurIPS, 2017.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[3]  Hu, E. J. et al. “LoRA: Low-Rank Adaptation of Large Language Models.” ICLR, 2022.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[4]  Schick, T. et al. “Toolformer: Language Models Can Teach Themselves to Use Tools.” NeurIPS, 2023.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[5]  Saxena, A. et al. “Damage Propagation Modeling for Aircraft Engine Run-to-Failure Simulation (C-MAPSS).” PHM, 2008.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[6]  EASA Concept Paper: First Usable Guidance for Level 1 &amp; 2 Machine Learning Applications, Issue 2, 2023.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[7]  NIST AI Risk Management Framework (AI RMF 1.0), 2023.</a:t>
            </a:r>
          </a:p>
          <a:p>
            <a:pPr>
              <a:spcAft>
                <a:spcPts val="500"/>
              </a:spcAft>
              <a:defRPr sz="1500" b="1">
                <a:solidFill>
                  <a:srgbClr val="222222"/>
                </a:solidFill>
              </a:defRPr>
            </a:pPr>
            <a:r>
              <a:t>• Data sources:  FAA SDR  •  NASA ASRS  •  NASA C-MAPSS  •  FAA Airworthiness Directives (all public).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600">
                <a:solidFill>
                  <a:srgbClr val="FFC107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Ankit Bhardwaj   |   2024AA05939   |   M.Tech AI &amp; ML, BITS Pilani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